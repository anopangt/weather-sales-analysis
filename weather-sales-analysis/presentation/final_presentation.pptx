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Archivo Black" charset="1" panose="020B0A03020202020B04"/>
      <p:regular r:id="rId18"/>
    </p:embeddedFont>
    <p:embeddedFont>
      <p:font typeface="Garet" charset="1" panose="00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https://colab.research.google.com/drive/1TJK0ilUyQM4vKakqWqoXGgP_9yPFAbo0?usp=sharing"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5.png" Type="http://schemas.openxmlformats.org/officeDocument/2006/relationships/image"/><Relationship Id="rId4" Target="https://lookerstudio.google.com/reporting/53e3179c-6042-4b26-8861-30a16ad60972" TargetMode="External" Type="http://schemas.openxmlformats.org/officeDocument/2006/relationships/hyperlink"/><Relationship Id="rId5" Target="https://lookerstudio.google.com/reporting/53e3179c-6042-4b26-8861-30a16ad60972" TargetMode="External" Type="http://schemas.openxmlformats.org/officeDocument/2006/relationships/hyperlink"/></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 Id="rId8" Target="https://colab.research.google.com/drive/1TJK0ilUyQM4vKakqWqoXGgP_9yPFAbo0?usp=sharing" TargetMode="External" Type="http://schemas.openxmlformats.org/officeDocument/2006/relationships/hyperlink"/></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0" y="0"/>
            <a:ext cx="18288000" cy="10309860"/>
          </a:xfrm>
          <a:custGeom>
            <a:avLst/>
            <a:gdLst/>
            <a:ahLst/>
            <a:cxnLst/>
            <a:rect r="r" b="b" t="t" l="l"/>
            <a:pathLst>
              <a:path h="10309860" w="18288000">
                <a:moveTo>
                  <a:pt x="0" y="0"/>
                </a:moveTo>
                <a:lnTo>
                  <a:pt x="18288000" y="0"/>
                </a:lnTo>
                <a:lnTo>
                  <a:pt x="18288000" y="10309860"/>
                </a:lnTo>
                <a:lnTo>
                  <a:pt x="0" y="10309860"/>
                </a:lnTo>
                <a:lnTo>
                  <a:pt x="0" y="0"/>
                </a:lnTo>
                <a:close/>
              </a:path>
            </a:pathLst>
          </a:custGeom>
          <a:blipFill>
            <a:blip r:embed="rId3"/>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0" y="0"/>
            <a:ext cx="18247450" cy="10287000"/>
          </a:xfrm>
          <a:custGeom>
            <a:avLst/>
            <a:gdLst/>
            <a:ahLst/>
            <a:cxnLst/>
            <a:rect r="r" b="b" t="t" l="l"/>
            <a:pathLst>
              <a:path h="10287000" w="18247450">
                <a:moveTo>
                  <a:pt x="0" y="0"/>
                </a:moveTo>
                <a:lnTo>
                  <a:pt x="18247450" y="0"/>
                </a:lnTo>
                <a:lnTo>
                  <a:pt x="18247450" y="10287000"/>
                </a:lnTo>
                <a:lnTo>
                  <a:pt x="0" y="10287000"/>
                </a:lnTo>
                <a:lnTo>
                  <a:pt x="0" y="0"/>
                </a:lnTo>
                <a:close/>
              </a:path>
            </a:pathLst>
          </a:custGeom>
          <a:blipFill>
            <a:blip r:embed="rId3"/>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028700" y="1979269"/>
            <a:ext cx="4561440" cy="3844747"/>
          </a:xfrm>
          <a:custGeom>
            <a:avLst/>
            <a:gdLst/>
            <a:ahLst/>
            <a:cxnLst/>
            <a:rect r="r" b="b" t="t" l="l"/>
            <a:pathLst>
              <a:path h="3844747" w="4561440">
                <a:moveTo>
                  <a:pt x="0" y="0"/>
                </a:moveTo>
                <a:lnTo>
                  <a:pt x="4561440" y="0"/>
                </a:lnTo>
                <a:lnTo>
                  <a:pt x="4561440" y="3844747"/>
                </a:lnTo>
                <a:lnTo>
                  <a:pt x="0" y="3844747"/>
                </a:lnTo>
                <a:lnTo>
                  <a:pt x="0" y="0"/>
                </a:lnTo>
                <a:close/>
              </a:path>
            </a:pathLst>
          </a:custGeom>
          <a:blipFill>
            <a:blip r:embed="rId3"/>
            <a:stretch>
              <a:fillRect l="0" t="0" r="-17474" b="0"/>
            </a:stretch>
          </a:blipFill>
        </p:spPr>
      </p:sp>
      <p:sp>
        <p:nvSpPr>
          <p:cNvPr name="Freeform 4" id="4"/>
          <p:cNvSpPr/>
          <p:nvPr/>
        </p:nvSpPr>
        <p:spPr>
          <a:xfrm flipH="false" flipV="false" rot="0">
            <a:off x="11393920" y="1979269"/>
            <a:ext cx="5149135" cy="5712241"/>
          </a:xfrm>
          <a:custGeom>
            <a:avLst/>
            <a:gdLst/>
            <a:ahLst/>
            <a:cxnLst/>
            <a:rect r="r" b="b" t="t" l="l"/>
            <a:pathLst>
              <a:path h="5712241" w="5149135">
                <a:moveTo>
                  <a:pt x="0" y="0"/>
                </a:moveTo>
                <a:lnTo>
                  <a:pt x="5149136" y="0"/>
                </a:lnTo>
                <a:lnTo>
                  <a:pt x="5149136" y="5712241"/>
                </a:lnTo>
                <a:lnTo>
                  <a:pt x="0" y="5712241"/>
                </a:lnTo>
                <a:lnTo>
                  <a:pt x="0" y="0"/>
                </a:lnTo>
                <a:close/>
              </a:path>
            </a:pathLst>
          </a:custGeom>
          <a:blipFill>
            <a:blip r:embed="rId4"/>
            <a:stretch>
              <a:fillRect l="0" t="0" r="-78568" b="0"/>
            </a:stretch>
          </a:blipFill>
        </p:spPr>
      </p:sp>
      <p:sp>
        <p:nvSpPr>
          <p:cNvPr name="Freeform 5" id="5"/>
          <p:cNvSpPr/>
          <p:nvPr/>
        </p:nvSpPr>
        <p:spPr>
          <a:xfrm flipH="false" flipV="false" rot="0">
            <a:off x="5590140" y="1979269"/>
            <a:ext cx="5803781" cy="6328462"/>
          </a:xfrm>
          <a:custGeom>
            <a:avLst/>
            <a:gdLst/>
            <a:ahLst/>
            <a:cxnLst/>
            <a:rect r="r" b="b" t="t" l="l"/>
            <a:pathLst>
              <a:path h="6328462" w="5803781">
                <a:moveTo>
                  <a:pt x="0" y="0"/>
                </a:moveTo>
                <a:lnTo>
                  <a:pt x="5803780" y="0"/>
                </a:lnTo>
                <a:lnTo>
                  <a:pt x="5803780" y="6328462"/>
                </a:lnTo>
                <a:lnTo>
                  <a:pt x="0" y="6328462"/>
                </a:lnTo>
                <a:lnTo>
                  <a:pt x="0" y="0"/>
                </a:lnTo>
                <a:close/>
              </a:path>
            </a:pathLst>
          </a:custGeom>
          <a:blipFill>
            <a:blip r:embed="rId5"/>
            <a:stretch>
              <a:fillRect l="0" t="0" r="0" b="0"/>
            </a:stretch>
          </a:blipFill>
        </p:spPr>
      </p:sp>
      <p:sp>
        <p:nvSpPr>
          <p:cNvPr name="TextBox 6" id="6"/>
          <p:cNvSpPr txBox="true"/>
          <p:nvPr/>
        </p:nvSpPr>
        <p:spPr>
          <a:xfrm rot="0">
            <a:off x="1028700" y="1123950"/>
            <a:ext cx="7203393" cy="785704"/>
          </a:xfrm>
          <a:prstGeom prst="rect">
            <a:avLst/>
          </a:prstGeom>
        </p:spPr>
        <p:txBody>
          <a:bodyPr anchor="t" rtlCol="false" tIns="0" lIns="0" bIns="0" rIns="0">
            <a:spAutoFit/>
          </a:bodyPr>
          <a:lstStyle/>
          <a:p>
            <a:pPr algn="just" marL="0" indent="0" lvl="0">
              <a:lnSpc>
                <a:spcPts val="5808"/>
              </a:lnSpc>
              <a:spcBef>
                <a:spcPct val="0"/>
              </a:spcBef>
            </a:pPr>
            <a:r>
              <a:rPr lang="en-US" sz="5808" spc="-458">
                <a:solidFill>
                  <a:srgbClr val="000000"/>
                </a:solidFill>
                <a:latin typeface="Archivo Black"/>
                <a:ea typeface="Archivo Black"/>
                <a:cs typeface="Archivo Black"/>
                <a:sym typeface="Archivo Black"/>
              </a:rPr>
              <a:t>Code</a:t>
            </a:r>
          </a:p>
        </p:txBody>
      </p:sp>
      <p:sp>
        <p:nvSpPr>
          <p:cNvPr name="TextBox 7" id="7"/>
          <p:cNvSpPr txBox="true"/>
          <p:nvPr/>
        </p:nvSpPr>
        <p:spPr>
          <a:xfrm rot="0">
            <a:off x="6788462" y="8779760"/>
            <a:ext cx="7288485" cy="692150"/>
          </a:xfrm>
          <a:prstGeom prst="rect">
            <a:avLst/>
          </a:prstGeom>
        </p:spPr>
        <p:txBody>
          <a:bodyPr anchor="t" rtlCol="false" tIns="0" lIns="0" bIns="0" rIns="0">
            <a:spAutoFit/>
          </a:bodyPr>
          <a:lstStyle/>
          <a:p>
            <a:pPr algn="l">
              <a:lnSpc>
                <a:spcPts val="2800"/>
              </a:lnSpc>
            </a:pPr>
            <a:r>
              <a:rPr lang="en-US" sz="2000" u="sng">
                <a:solidFill>
                  <a:srgbClr val="000000"/>
                </a:solidFill>
                <a:latin typeface="Garet"/>
                <a:ea typeface="Garet"/>
                <a:cs typeface="Garet"/>
                <a:sym typeface="Garet"/>
                <a:hlinkClick r:id="rId6" tooltip="https://colab.research.google.com/drive/1TJK0ilUyQM4vKakqWqoXGgP_9yPFAbo0?usp=sharing"/>
              </a:rPr>
              <a:t>https://colab.research.google.com/drive/1TJK0ilUyQM4vKakqWqoXGgP_9yPFAbo0?usp=sharing</a:t>
            </a:r>
          </a:p>
        </p:txBody>
      </p:sp>
      <p:sp>
        <p:nvSpPr>
          <p:cNvPr name="TextBox 8" id="8"/>
          <p:cNvSpPr txBox="true"/>
          <p:nvPr/>
        </p:nvSpPr>
        <p:spPr>
          <a:xfrm rot="0">
            <a:off x="6158810" y="8779760"/>
            <a:ext cx="629653" cy="339725"/>
          </a:xfrm>
          <a:prstGeom prst="rect">
            <a:avLst/>
          </a:prstGeom>
        </p:spPr>
        <p:txBody>
          <a:bodyPr anchor="t" rtlCol="false" tIns="0" lIns="0" bIns="0" rIns="0">
            <a:spAutoFit/>
          </a:bodyPr>
          <a:lstStyle/>
          <a:p>
            <a:pPr algn="l">
              <a:lnSpc>
                <a:spcPts val="2800"/>
              </a:lnSpc>
            </a:pPr>
            <a:r>
              <a:rPr lang="en-US" sz="2000">
                <a:solidFill>
                  <a:srgbClr val="000000"/>
                </a:solidFill>
                <a:latin typeface="Garet"/>
                <a:ea typeface="Garet"/>
                <a:cs typeface="Garet"/>
                <a:sym typeface="Garet"/>
              </a:rPr>
              <a:t>link:</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872289" y="6365307"/>
            <a:ext cx="8495506" cy="3323867"/>
          </a:xfrm>
          <a:custGeom>
            <a:avLst/>
            <a:gdLst/>
            <a:ahLst/>
            <a:cxnLst/>
            <a:rect r="r" b="b" t="t" l="l"/>
            <a:pathLst>
              <a:path h="3323867" w="8495506">
                <a:moveTo>
                  <a:pt x="0" y="0"/>
                </a:moveTo>
                <a:lnTo>
                  <a:pt x="8495507" y="0"/>
                </a:lnTo>
                <a:lnTo>
                  <a:pt x="8495507" y="3323867"/>
                </a:lnTo>
                <a:lnTo>
                  <a:pt x="0" y="3323867"/>
                </a:lnTo>
                <a:lnTo>
                  <a:pt x="0" y="0"/>
                </a:lnTo>
                <a:close/>
              </a:path>
            </a:pathLst>
          </a:custGeom>
          <a:blipFill>
            <a:blip r:embed="rId3"/>
            <a:stretch>
              <a:fillRect l="0" t="0" r="0" b="0"/>
            </a:stretch>
          </a:blipFill>
        </p:spPr>
      </p:sp>
      <p:sp>
        <p:nvSpPr>
          <p:cNvPr name="Freeform 4" id="4"/>
          <p:cNvSpPr/>
          <p:nvPr/>
        </p:nvSpPr>
        <p:spPr>
          <a:xfrm flipH="false" flipV="false" rot="0">
            <a:off x="0" y="0"/>
            <a:ext cx="18288000" cy="5989320"/>
          </a:xfrm>
          <a:custGeom>
            <a:avLst/>
            <a:gdLst/>
            <a:ahLst/>
            <a:cxnLst/>
            <a:rect r="r" b="b" t="t" l="l"/>
            <a:pathLst>
              <a:path h="5989320" w="18288000">
                <a:moveTo>
                  <a:pt x="0" y="0"/>
                </a:moveTo>
                <a:lnTo>
                  <a:pt x="18288000" y="0"/>
                </a:lnTo>
                <a:lnTo>
                  <a:pt x="18288000" y="5989320"/>
                </a:lnTo>
                <a:lnTo>
                  <a:pt x="0" y="5989320"/>
                </a:lnTo>
                <a:lnTo>
                  <a:pt x="0" y="0"/>
                </a:lnTo>
                <a:close/>
              </a:path>
            </a:pathLst>
          </a:custGeom>
          <a:blipFill>
            <a:blip r:embed="rId4"/>
            <a:stretch>
              <a:fillRect l="0" t="0" r="0" b="0"/>
            </a:stretch>
          </a:blipFill>
        </p:spPr>
      </p:sp>
      <p:sp>
        <p:nvSpPr>
          <p:cNvPr name="Freeform 5" id="5"/>
          <p:cNvSpPr/>
          <p:nvPr/>
        </p:nvSpPr>
        <p:spPr>
          <a:xfrm flipH="false" flipV="false" rot="0">
            <a:off x="9728599" y="6365307"/>
            <a:ext cx="5562957" cy="3323867"/>
          </a:xfrm>
          <a:custGeom>
            <a:avLst/>
            <a:gdLst/>
            <a:ahLst/>
            <a:cxnLst/>
            <a:rect r="r" b="b" t="t" l="l"/>
            <a:pathLst>
              <a:path h="3323867" w="5562957">
                <a:moveTo>
                  <a:pt x="0" y="0"/>
                </a:moveTo>
                <a:lnTo>
                  <a:pt x="5562957" y="0"/>
                </a:lnTo>
                <a:lnTo>
                  <a:pt x="5562957" y="3323867"/>
                </a:lnTo>
                <a:lnTo>
                  <a:pt x="0" y="3323867"/>
                </a:lnTo>
                <a:lnTo>
                  <a:pt x="0" y="0"/>
                </a:lnTo>
                <a:close/>
              </a:path>
            </a:pathLst>
          </a:custGeom>
          <a:blipFill>
            <a:blip r:embed="rId5"/>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028700" y="1163288"/>
            <a:ext cx="16230600" cy="8095012"/>
          </a:xfrm>
          <a:custGeom>
            <a:avLst/>
            <a:gdLst/>
            <a:ahLst/>
            <a:cxnLst/>
            <a:rect r="r" b="b" t="t" l="l"/>
            <a:pathLst>
              <a:path h="8095012" w="16230600">
                <a:moveTo>
                  <a:pt x="0" y="0"/>
                </a:moveTo>
                <a:lnTo>
                  <a:pt x="16230600" y="0"/>
                </a:lnTo>
                <a:lnTo>
                  <a:pt x="16230600" y="8095012"/>
                </a:lnTo>
                <a:lnTo>
                  <a:pt x="0" y="8095012"/>
                </a:lnTo>
                <a:lnTo>
                  <a:pt x="0" y="0"/>
                </a:lnTo>
                <a:close/>
              </a:path>
            </a:pathLst>
          </a:custGeom>
          <a:blipFill>
            <a:blip r:embed="rId3"/>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028700" y="1835890"/>
            <a:ext cx="13084230" cy="3500032"/>
          </a:xfrm>
          <a:custGeom>
            <a:avLst/>
            <a:gdLst/>
            <a:ahLst/>
            <a:cxnLst/>
            <a:rect r="r" b="b" t="t" l="l"/>
            <a:pathLst>
              <a:path h="3500032" w="13084230">
                <a:moveTo>
                  <a:pt x="0" y="0"/>
                </a:moveTo>
                <a:lnTo>
                  <a:pt x="13084230" y="0"/>
                </a:lnTo>
                <a:lnTo>
                  <a:pt x="13084230" y="3500031"/>
                </a:lnTo>
                <a:lnTo>
                  <a:pt x="0" y="3500031"/>
                </a:lnTo>
                <a:lnTo>
                  <a:pt x="0" y="0"/>
                </a:lnTo>
                <a:close/>
              </a:path>
            </a:pathLst>
          </a:custGeom>
          <a:blipFill>
            <a:blip r:embed="rId3"/>
            <a:stretch>
              <a:fillRect l="0" t="0" r="0" b="0"/>
            </a:stretch>
          </a:blipFill>
        </p:spPr>
      </p:sp>
      <p:sp>
        <p:nvSpPr>
          <p:cNvPr name="Freeform 4" id="4"/>
          <p:cNvSpPr/>
          <p:nvPr/>
        </p:nvSpPr>
        <p:spPr>
          <a:xfrm flipH="false" flipV="false" rot="0">
            <a:off x="1028700" y="6216876"/>
            <a:ext cx="13084230" cy="3532742"/>
          </a:xfrm>
          <a:custGeom>
            <a:avLst/>
            <a:gdLst/>
            <a:ahLst/>
            <a:cxnLst/>
            <a:rect r="r" b="b" t="t" l="l"/>
            <a:pathLst>
              <a:path h="3532742" w="13084230">
                <a:moveTo>
                  <a:pt x="0" y="0"/>
                </a:moveTo>
                <a:lnTo>
                  <a:pt x="13084230" y="0"/>
                </a:lnTo>
                <a:lnTo>
                  <a:pt x="13084230" y="3532742"/>
                </a:lnTo>
                <a:lnTo>
                  <a:pt x="0" y="3532742"/>
                </a:lnTo>
                <a:lnTo>
                  <a:pt x="0" y="0"/>
                </a:lnTo>
                <a:close/>
              </a:path>
            </a:pathLst>
          </a:custGeom>
          <a:blipFill>
            <a:blip r:embed="rId4"/>
            <a:stretch>
              <a:fillRect l="0" t="0" r="0" b="0"/>
            </a:stretch>
          </a:blipFill>
        </p:spPr>
      </p:sp>
      <p:sp>
        <p:nvSpPr>
          <p:cNvPr name="TextBox 5" id="5"/>
          <p:cNvSpPr txBox="true"/>
          <p:nvPr/>
        </p:nvSpPr>
        <p:spPr>
          <a:xfrm rot="0">
            <a:off x="1028700" y="1123950"/>
            <a:ext cx="14467459" cy="1519129"/>
          </a:xfrm>
          <a:prstGeom prst="rect">
            <a:avLst/>
          </a:prstGeom>
        </p:spPr>
        <p:txBody>
          <a:bodyPr anchor="t" rtlCol="false" tIns="0" lIns="0" bIns="0" rIns="0">
            <a:spAutoFit/>
          </a:bodyPr>
          <a:lstStyle/>
          <a:p>
            <a:pPr algn="just">
              <a:lnSpc>
                <a:spcPts val="5808"/>
              </a:lnSpc>
            </a:pPr>
            <a:r>
              <a:rPr lang="en-US" sz="5808" spc="-458">
                <a:solidFill>
                  <a:srgbClr val="000000"/>
                </a:solidFill>
                <a:latin typeface="Archivo Black"/>
                <a:ea typeface="Archivo Black"/>
                <a:cs typeface="Archivo Black"/>
                <a:sym typeface="Archivo Black"/>
              </a:rPr>
              <a:t>Weather Field for Weather Classification:</a:t>
            </a:r>
          </a:p>
          <a:p>
            <a:pPr algn="just" marL="0" indent="0" lvl="0">
              <a:lnSpc>
                <a:spcPts val="5808"/>
              </a:lnSpc>
              <a:spcBef>
                <a:spcPct val="0"/>
              </a:spcBef>
            </a:pPr>
          </a:p>
        </p:txBody>
      </p:sp>
      <p:sp>
        <p:nvSpPr>
          <p:cNvPr name="TextBox 6" id="6"/>
          <p:cNvSpPr txBox="true"/>
          <p:nvPr/>
        </p:nvSpPr>
        <p:spPr>
          <a:xfrm rot="0">
            <a:off x="1028700" y="5431171"/>
            <a:ext cx="14467459" cy="785704"/>
          </a:xfrm>
          <a:prstGeom prst="rect">
            <a:avLst/>
          </a:prstGeom>
        </p:spPr>
        <p:txBody>
          <a:bodyPr anchor="t" rtlCol="false" tIns="0" lIns="0" bIns="0" rIns="0">
            <a:spAutoFit/>
          </a:bodyPr>
          <a:lstStyle/>
          <a:p>
            <a:pPr algn="just">
              <a:lnSpc>
                <a:spcPts val="5808"/>
              </a:lnSpc>
            </a:pPr>
            <a:r>
              <a:rPr lang="en-US" sz="5808" spc="-458">
                <a:solidFill>
                  <a:srgbClr val="000000"/>
                </a:solidFill>
                <a:latin typeface="Archivo Black"/>
                <a:ea typeface="Archivo Black"/>
                <a:cs typeface="Archivo Black"/>
                <a:sym typeface="Archivo Black"/>
              </a:rPr>
              <a:t>Day of the Week Field:</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028700" y="2604889"/>
            <a:ext cx="11814728" cy="5892596"/>
          </a:xfrm>
          <a:custGeom>
            <a:avLst/>
            <a:gdLst/>
            <a:ahLst/>
            <a:cxnLst/>
            <a:rect r="r" b="b" t="t" l="l"/>
            <a:pathLst>
              <a:path h="5892596" w="11814728">
                <a:moveTo>
                  <a:pt x="0" y="0"/>
                </a:moveTo>
                <a:lnTo>
                  <a:pt x="11814728" y="0"/>
                </a:lnTo>
                <a:lnTo>
                  <a:pt x="11814728" y="5892596"/>
                </a:lnTo>
                <a:lnTo>
                  <a:pt x="0" y="5892596"/>
                </a:lnTo>
                <a:lnTo>
                  <a:pt x="0" y="0"/>
                </a:lnTo>
                <a:close/>
              </a:path>
            </a:pathLst>
          </a:custGeom>
          <a:blipFill>
            <a:blip r:embed="rId3"/>
            <a:stretch>
              <a:fillRect l="0" t="0" r="0" b="0"/>
            </a:stretch>
          </a:blipFill>
        </p:spPr>
      </p:sp>
      <p:sp>
        <p:nvSpPr>
          <p:cNvPr name="TextBox 4" id="4"/>
          <p:cNvSpPr txBox="true"/>
          <p:nvPr/>
        </p:nvSpPr>
        <p:spPr>
          <a:xfrm rot="0">
            <a:off x="1028700" y="1123950"/>
            <a:ext cx="14467459" cy="785704"/>
          </a:xfrm>
          <a:prstGeom prst="rect">
            <a:avLst/>
          </a:prstGeom>
        </p:spPr>
        <p:txBody>
          <a:bodyPr anchor="t" rtlCol="false" tIns="0" lIns="0" bIns="0" rIns="0">
            <a:spAutoFit/>
          </a:bodyPr>
          <a:lstStyle/>
          <a:p>
            <a:pPr algn="just">
              <a:lnSpc>
                <a:spcPts val="5808"/>
              </a:lnSpc>
            </a:pPr>
            <a:r>
              <a:rPr lang="en-US" sz="5808" spc="-458">
                <a:solidFill>
                  <a:srgbClr val="000000"/>
                </a:solidFill>
                <a:latin typeface="Archivo Black"/>
                <a:ea typeface="Archivo Black"/>
                <a:cs typeface="Archivo Black"/>
                <a:sym typeface="Archivo Black"/>
              </a:rPr>
              <a:t>Final Looker Dashboard Result:</a:t>
            </a:r>
          </a:p>
        </p:txBody>
      </p:sp>
      <p:sp>
        <p:nvSpPr>
          <p:cNvPr name="TextBox 5" id="5"/>
          <p:cNvSpPr txBox="true"/>
          <p:nvPr/>
        </p:nvSpPr>
        <p:spPr>
          <a:xfrm rot="0">
            <a:off x="5554943" y="8665127"/>
            <a:ext cx="7288485" cy="692150"/>
          </a:xfrm>
          <a:prstGeom prst="rect">
            <a:avLst/>
          </a:prstGeom>
        </p:spPr>
        <p:txBody>
          <a:bodyPr anchor="t" rtlCol="false" tIns="0" lIns="0" bIns="0" rIns="0">
            <a:spAutoFit/>
          </a:bodyPr>
          <a:lstStyle/>
          <a:p>
            <a:pPr algn="l">
              <a:lnSpc>
                <a:spcPts val="2800"/>
              </a:lnSpc>
            </a:pPr>
            <a:r>
              <a:rPr lang="en-US" sz="2000" u="sng">
                <a:solidFill>
                  <a:srgbClr val="000000"/>
                </a:solidFill>
                <a:latin typeface="Garet"/>
                <a:ea typeface="Garet"/>
                <a:cs typeface="Garet"/>
                <a:sym typeface="Garet"/>
                <a:hlinkClick r:id="rId4" tooltip="https://lookerstudio.google.com/reporting/53e3179c-6042-4b26-8861-30a16ad60972"/>
              </a:rPr>
              <a:t>https://lookerstudio.google.com/reporting/53e3179c-6042-4b26-8861-30a16ad60972</a:t>
            </a:r>
          </a:p>
        </p:txBody>
      </p:sp>
      <p:sp>
        <p:nvSpPr>
          <p:cNvPr name="TextBox 6" id="6"/>
          <p:cNvSpPr txBox="true"/>
          <p:nvPr/>
        </p:nvSpPr>
        <p:spPr>
          <a:xfrm rot="0">
            <a:off x="4925291" y="8690527"/>
            <a:ext cx="629653" cy="339725"/>
          </a:xfrm>
          <a:prstGeom prst="rect">
            <a:avLst/>
          </a:prstGeom>
        </p:spPr>
        <p:txBody>
          <a:bodyPr anchor="t" rtlCol="false" tIns="0" lIns="0" bIns="0" rIns="0">
            <a:spAutoFit/>
          </a:bodyPr>
          <a:lstStyle/>
          <a:p>
            <a:pPr algn="l">
              <a:lnSpc>
                <a:spcPts val="2800"/>
              </a:lnSpc>
            </a:pPr>
            <a:r>
              <a:rPr lang="en-US" sz="2000" u="sng">
                <a:solidFill>
                  <a:srgbClr val="000000"/>
                </a:solidFill>
                <a:latin typeface="Garet"/>
                <a:ea typeface="Garet"/>
                <a:cs typeface="Garet"/>
                <a:sym typeface="Garet"/>
                <a:hlinkClick r:id="rId5" tooltip="https://lookerstudio.google.com/reporting/53e3179c-6042-4b26-8861-30a16ad60972"/>
              </a:rPr>
              <a:t>link:</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028700" y="5143500"/>
            <a:ext cx="5207127" cy="4412214"/>
          </a:xfrm>
          <a:custGeom>
            <a:avLst/>
            <a:gdLst/>
            <a:ahLst/>
            <a:cxnLst/>
            <a:rect r="r" b="b" t="t" l="l"/>
            <a:pathLst>
              <a:path h="4412214" w="5207127">
                <a:moveTo>
                  <a:pt x="0" y="0"/>
                </a:moveTo>
                <a:lnTo>
                  <a:pt x="5207127" y="0"/>
                </a:lnTo>
                <a:lnTo>
                  <a:pt x="5207127" y="4412214"/>
                </a:lnTo>
                <a:lnTo>
                  <a:pt x="0" y="4412214"/>
                </a:lnTo>
                <a:lnTo>
                  <a:pt x="0" y="0"/>
                </a:lnTo>
                <a:close/>
              </a:path>
            </a:pathLst>
          </a:custGeom>
          <a:blipFill>
            <a:blip r:embed="rId3"/>
            <a:stretch>
              <a:fillRect l="0" t="0" r="0" b="0"/>
            </a:stretch>
          </a:blipFill>
        </p:spPr>
      </p:sp>
      <p:sp>
        <p:nvSpPr>
          <p:cNvPr name="Freeform 4" id="4"/>
          <p:cNvSpPr/>
          <p:nvPr/>
        </p:nvSpPr>
        <p:spPr>
          <a:xfrm flipH="false" flipV="false" rot="0">
            <a:off x="6797515" y="7190374"/>
            <a:ext cx="5020315" cy="2365341"/>
          </a:xfrm>
          <a:custGeom>
            <a:avLst/>
            <a:gdLst/>
            <a:ahLst/>
            <a:cxnLst/>
            <a:rect r="r" b="b" t="t" l="l"/>
            <a:pathLst>
              <a:path h="2365341" w="5020315">
                <a:moveTo>
                  <a:pt x="0" y="0"/>
                </a:moveTo>
                <a:lnTo>
                  <a:pt x="5020315" y="0"/>
                </a:lnTo>
                <a:lnTo>
                  <a:pt x="5020315" y="2365340"/>
                </a:lnTo>
                <a:lnTo>
                  <a:pt x="0" y="2365340"/>
                </a:lnTo>
                <a:lnTo>
                  <a:pt x="0" y="0"/>
                </a:lnTo>
                <a:close/>
              </a:path>
            </a:pathLst>
          </a:custGeom>
          <a:blipFill>
            <a:blip r:embed="rId4"/>
            <a:stretch>
              <a:fillRect l="0" t="0" r="0" b="0"/>
            </a:stretch>
          </a:blipFill>
        </p:spPr>
      </p:sp>
      <p:sp>
        <p:nvSpPr>
          <p:cNvPr name="Freeform 5" id="5"/>
          <p:cNvSpPr/>
          <p:nvPr/>
        </p:nvSpPr>
        <p:spPr>
          <a:xfrm flipH="false" flipV="false" rot="0">
            <a:off x="12125396" y="6939425"/>
            <a:ext cx="4453257" cy="2616289"/>
          </a:xfrm>
          <a:custGeom>
            <a:avLst/>
            <a:gdLst/>
            <a:ahLst/>
            <a:cxnLst/>
            <a:rect r="r" b="b" t="t" l="l"/>
            <a:pathLst>
              <a:path h="2616289" w="4453257">
                <a:moveTo>
                  <a:pt x="0" y="0"/>
                </a:moveTo>
                <a:lnTo>
                  <a:pt x="4453257" y="0"/>
                </a:lnTo>
                <a:lnTo>
                  <a:pt x="4453257" y="2616289"/>
                </a:lnTo>
                <a:lnTo>
                  <a:pt x="0" y="2616289"/>
                </a:lnTo>
                <a:lnTo>
                  <a:pt x="0" y="0"/>
                </a:lnTo>
                <a:close/>
              </a:path>
            </a:pathLst>
          </a:custGeom>
          <a:blipFill>
            <a:blip r:embed="rId5"/>
            <a:stretch>
              <a:fillRect l="0" t="0" r="0" b="0"/>
            </a:stretch>
          </a:blipFill>
        </p:spPr>
      </p:sp>
      <p:sp>
        <p:nvSpPr>
          <p:cNvPr name="Freeform 6" id="6"/>
          <p:cNvSpPr/>
          <p:nvPr/>
        </p:nvSpPr>
        <p:spPr>
          <a:xfrm flipH="false" flipV="false" rot="0">
            <a:off x="14221088" y="3475850"/>
            <a:ext cx="3687851" cy="2950281"/>
          </a:xfrm>
          <a:custGeom>
            <a:avLst/>
            <a:gdLst/>
            <a:ahLst/>
            <a:cxnLst/>
            <a:rect r="r" b="b" t="t" l="l"/>
            <a:pathLst>
              <a:path h="2950281" w="3687851">
                <a:moveTo>
                  <a:pt x="0" y="0"/>
                </a:moveTo>
                <a:lnTo>
                  <a:pt x="3687852" y="0"/>
                </a:lnTo>
                <a:lnTo>
                  <a:pt x="3687852" y="2950281"/>
                </a:lnTo>
                <a:lnTo>
                  <a:pt x="0" y="2950281"/>
                </a:lnTo>
                <a:lnTo>
                  <a:pt x="0" y="0"/>
                </a:lnTo>
                <a:close/>
              </a:path>
            </a:pathLst>
          </a:custGeom>
          <a:blipFill>
            <a:blip r:embed="rId6"/>
            <a:stretch>
              <a:fillRect l="0" t="0" r="0" b="0"/>
            </a:stretch>
          </a:blipFill>
        </p:spPr>
      </p:sp>
      <p:sp>
        <p:nvSpPr>
          <p:cNvPr name="Freeform 7" id="7"/>
          <p:cNvSpPr/>
          <p:nvPr/>
        </p:nvSpPr>
        <p:spPr>
          <a:xfrm flipH="false" flipV="false" rot="0">
            <a:off x="9307673" y="3475850"/>
            <a:ext cx="4913415" cy="2936146"/>
          </a:xfrm>
          <a:custGeom>
            <a:avLst/>
            <a:gdLst/>
            <a:ahLst/>
            <a:cxnLst/>
            <a:rect r="r" b="b" t="t" l="l"/>
            <a:pathLst>
              <a:path h="2936146" w="4913415">
                <a:moveTo>
                  <a:pt x="0" y="0"/>
                </a:moveTo>
                <a:lnTo>
                  <a:pt x="4913415" y="0"/>
                </a:lnTo>
                <a:lnTo>
                  <a:pt x="4913415" y="2936146"/>
                </a:lnTo>
                <a:lnTo>
                  <a:pt x="0" y="2936146"/>
                </a:lnTo>
                <a:lnTo>
                  <a:pt x="0" y="0"/>
                </a:lnTo>
                <a:close/>
              </a:path>
            </a:pathLst>
          </a:custGeom>
          <a:blipFill>
            <a:blip r:embed="rId7"/>
            <a:stretch>
              <a:fillRect l="0" t="0" r="0" b="0"/>
            </a:stretch>
          </a:blipFill>
        </p:spPr>
      </p:sp>
      <p:sp>
        <p:nvSpPr>
          <p:cNvPr name="TextBox 8" id="8"/>
          <p:cNvSpPr txBox="true"/>
          <p:nvPr/>
        </p:nvSpPr>
        <p:spPr>
          <a:xfrm rot="0">
            <a:off x="1028700" y="1123950"/>
            <a:ext cx="16557946" cy="785704"/>
          </a:xfrm>
          <a:prstGeom prst="rect">
            <a:avLst/>
          </a:prstGeom>
        </p:spPr>
        <p:txBody>
          <a:bodyPr anchor="t" rtlCol="false" tIns="0" lIns="0" bIns="0" rIns="0">
            <a:spAutoFit/>
          </a:bodyPr>
          <a:lstStyle/>
          <a:p>
            <a:pPr algn="just">
              <a:lnSpc>
                <a:spcPts val="5808"/>
              </a:lnSpc>
            </a:pPr>
            <a:r>
              <a:rPr lang="en-US" sz="5808" spc="-458">
                <a:solidFill>
                  <a:srgbClr val="000000"/>
                </a:solidFill>
                <a:latin typeface="Archivo Black"/>
                <a:ea typeface="Archivo Black"/>
                <a:cs typeface="Archivo Black"/>
                <a:sym typeface="Archivo Black"/>
              </a:rPr>
              <a:t>AI Modeling to Predict Sales Based on Weather</a:t>
            </a:r>
          </a:p>
        </p:txBody>
      </p:sp>
      <p:sp>
        <p:nvSpPr>
          <p:cNvPr name="TextBox 9" id="9"/>
          <p:cNvSpPr txBox="true"/>
          <p:nvPr/>
        </p:nvSpPr>
        <p:spPr>
          <a:xfrm rot="0">
            <a:off x="1028700" y="2244841"/>
            <a:ext cx="13768849" cy="692150"/>
          </a:xfrm>
          <a:prstGeom prst="rect">
            <a:avLst/>
          </a:prstGeom>
        </p:spPr>
        <p:txBody>
          <a:bodyPr anchor="t" rtlCol="false" tIns="0" lIns="0" bIns="0" rIns="0">
            <a:spAutoFit/>
          </a:bodyPr>
          <a:lstStyle/>
          <a:p>
            <a:pPr algn="l">
              <a:lnSpc>
                <a:spcPts val="2800"/>
              </a:lnSpc>
            </a:pPr>
            <a:r>
              <a:rPr lang="en-US" sz="2000">
                <a:solidFill>
                  <a:srgbClr val="000000"/>
                </a:solidFill>
                <a:latin typeface="Garet"/>
                <a:ea typeface="Garet"/>
                <a:cs typeface="Garet"/>
                <a:sym typeface="Garet"/>
              </a:rPr>
              <a:t>I'm using a linear regression and random forest model to predict future sales based on weather conditions. Full Code :</a:t>
            </a:r>
          </a:p>
        </p:txBody>
      </p:sp>
      <p:sp>
        <p:nvSpPr>
          <p:cNvPr name="TextBox 10" id="10"/>
          <p:cNvSpPr txBox="true"/>
          <p:nvPr/>
        </p:nvSpPr>
        <p:spPr>
          <a:xfrm rot="0">
            <a:off x="1028700" y="4731922"/>
            <a:ext cx="8115300" cy="339725"/>
          </a:xfrm>
          <a:prstGeom prst="rect">
            <a:avLst/>
          </a:prstGeom>
        </p:spPr>
        <p:txBody>
          <a:bodyPr anchor="t" rtlCol="false" tIns="0" lIns="0" bIns="0" rIns="0">
            <a:spAutoFit/>
          </a:bodyPr>
          <a:lstStyle/>
          <a:p>
            <a:pPr algn="l">
              <a:lnSpc>
                <a:spcPts val="2800"/>
              </a:lnSpc>
            </a:pPr>
            <a:r>
              <a:rPr lang="en-US" sz="2000">
                <a:solidFill>
                  <a:srgbClr val="000000"/>
                </a:solidFill>
                <a:latin typeface="Garet"/>
                <a:ea typeface="Garet"/>
                <a:cs typeface="Garet"/>
                <a:sym typeface="Garet"/>
              </a:rPr>
              <a:t>Some Screenshot Code (Feature Engineering &amp; Evaluation):</a:t>
            </a:r>
          </a:p>
        </p:txBody>
      </p:sp>
      <p:sp>
        <p:nvSpPr>
          <p:cNvPr name="TextBox 11" id="11"/>
          <p:cNvSpPr txBox="true"/>
          <p:nvPr/>
        </p:nvSpPr>
        <p:spPr>
          <a:xfrm rot="0">
            <a:off x="6797515" y="6789821"/>
            <a:ext cx="2355538" cy="339725"/>
          </a:xfrm>
          <a:prstGeom prst="rect">
            <a:avLst/>
          </a:prstGeom>
        </p:spPr>
        <p:txBody>
          <a:bodyPr anchor="t" rtlCol="false" tIns="0" lIns="0" bIns="0" rIns="0">
            <a:spAutoFit/>
          </a:bodyPr>
          <a:lstStyle/>
          <a:p>
            <a:pPr algn="l">
              <a:lnSpc>
                <a:spcPts val="2800"/>
              </a:lnSpc>
            </a:pPr>
            <a:r>
              <a:rPr lang="en-US" sz="2000">
                <a:solidFill>
                  <a:srgbClr val="000000"/>
                </a:solidFill>
                <a:latin typeface="Garet"/>
                <a:ea typeface="Garet"/>
                <a:cs typeface="Garet"/>
                <a:sym typeface="Garet"/>
              </a:rPr>
              <a:t>Linear Regression</a:t>
            </a:r>
          </a:p>
        </p:txBody>
      </p:sp>
      <p:sp>
        <p:nvSpPr>
          <p:cNvPr name="TextBox 12" id="12"/>
          <p:cNvSpPr txBox="true"/>
          <p:nvPr/>
        </p:nvSpPr>
        <p:spPr>
          <a:xfrm rot="0">
            <a:off x="12125396" y="6488196"/>
            <a:ext cx="2355538" cy="339725"/>
          </a:xfrm>
          <a:prstGeom prst="rect">
            <a:avLst/>
          </a:prstGeom>
        </p:spPr>
        <p:txBody>
          <a:bodyPr anchor="t" rtlCol="false" tIns="0" lIns="0" bIns="0" rIns="0">
            <a:spAutoFit/>
          </a:bodyPr>
          <a:lstStyle/>
          <a:p>
            <a:pPr algn="l">
              <a:lnSpc>
                <a:spcPts val="2800"/>
              </a:lnSpc>
            </a:pPr>
            <a:r>
              <a:rPr lang="en-US" sz="2000">
                <a:solidFill>
                  <a:srgbClr val="000000"/>
                </a:solidFill>
                <a:latin typeface="Garet"/>
                <a:ea typeface="Garet"/>
                <a:cs typeface="Garet"/>
                <a:sym typeface="Garet"/>
              </a:rPr>
              <a:t>Random Forest</a:t>
            </a:r>
          </a:p>
        </p:txBody>
      </p:sp>
      <p:sp>
        <p:nvSpPr>
          <p:cNvPr name="TextBox 13" id="13"/>
          <p:cNvSpPr txBox="true"/>
          <p:nvPr/>
        </p:nvSpPr>
        <p:spPr>
          <a:xfrm rot="0">
            <a:off x="3946002" y="2571866"/>
            <a:ext cx="12777893" cy="339725"/>
          </a:xfrm>
          <a:prstGeom prst="rect">
            <a:avLst/>
          </a:prstGeom>
        </p:spPr>
        <p:txBody>
          <a:bodyPr anchor="t" rtlCol="false" tIns="0" lIns="0" bIns="0" rIns="0">
            <a:spAutoFit/>
          </a:bodyPr>
          <a:lstStyle/>
          <a:p>
            <a:pPr algn="l">
              <a:lnSpc>
                <a:spcPts val="2800"/>
              </a:lnSpc>
            </a:pPr>
            <a:r>
              <a:rPr lang="en-US" sz="2000" u="sng">
                <a:solidFill>
                  <a:srgbClr val="000000"/>
                </a:solidFill>
                <a:latin typeface="Garet"/>
                <a:ea typeface="Garet"/>
                <a:cs typeface="Garet"/>
                <a:sym typeface="Garet"/>
                <a:hlinkClick r:id="rId8" tooltip="https://colab.research.google.com/drive/1TJK0ilUyQM4vKakqWqoXGgP_9yPFAbo0?usp=sharing"/>
              </a:rPr>
              <a:t>https://colab.research.google.com/drive/1TJK0ilUyQM4vKakqWqoXGgP_9yPFAbo0?usp=sharing</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1028700" y="2739036"/>
            <a:ext cx="8115300" cy="662237"/>
          </a:xfrm>
          <a:prstGeom prst="rect">
            <a:avLst/>
          </a:prstGeom>
        </p:spPr>
        <p:txBody>
          <a:bodyPr anchor="t" rtlCol="false" tIns="0" lIns="0" bIns="0" rIns="0">
            <a:spAutoFit/>
          </a:bodyPr>
          <a:lstStyle/>
          <a:p>
            <a:pPr algn="l">
              <a:lnSpc>
                <a:spcPts val="4530"/>
              </a:lnSpc>
            </a:pPr>
            <a:r>
              <a:rPr lang="en-US" sz="5808" spc="-458">
                <a:solidFill>
                  <a:srgbClr val="000000"/>
                </a:solidFill>
                <a:latin typeface="Archivo Black"/>
                <a:ea typeface="Archivo Black"/>
                <a:cs typeface="Archivo Black"/>
                <a:sym typeface="Archivo Black"/>
              </a:rPr>
              <a:t>Conlusion AI Modelling</a:t>
            </a:r>
          </a:p>
        </p:txBody>
      </p:sp>
      <p:sp>
        <p:nvSpPr>
          <p:cNvPr name="AutoShape 4" id="4"/>
          <p:cNvSpPr/>
          <p:nvPr/>
        </p:nvSpPr>
        <p:spPr>
          <a:xfrm>
            <a:off x="-594658" y="8810621"/>
            <a:ext cx="18873133" cy="0"/>
          </a:xfrm>
          <a:prstGeom prst="line">
            <a:avLst/>
          </a:prstGeom>
          <a:ln cap="rnd" w="9525">
            <a:solidFill>
              <a:srgbClr val="000000"/>
            </a:solidFill>
            <a:prstDash val="solid"/>
            <a:headEnd type="none" len="sm" w="sm"/>
            <a:tailEnd type="none" len="sm" w="sm"/>
          </a:ln>
        </p:spPr>
      </p:sp>
      <p:sp>
        <p:nvSpPr>
          <p:cNvPr name="AutoShape 5" id="5"/>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TextBox 6" id="6"/>
          <p:cNvSpPr txBox="true"/>
          <p:nvPr/>
        </p:nvSpPr>
        <p:spPr>
          <a:xfrm rot="0">
            <a:off x="1028700" y="4008120"/>
            <a:ext cx="14085971" cy="3337560"/>
          </a:xfrm>
          <a:prstGeom prst="rect">
            <a:avLst/>
          </a:prstGeom>
        </p:spPr>
        <p:txBody>
          <a:bodyPr anchor="t" rtlCol="false" tIns="0" lIns="0" bIns="0" rIns="0">
            <a:spAutoFit/>
          </a:bodyPr>
          <a:lstStyle/>
          <a:p>
            <a:pPr algn="l">
              <a:lnSpc>
                <a:spcPts val="2939"/>
              </a:lnSpc>
              <a:spcBef>
                <a:spcPct val="0"/>
              </a:spcBef>
            </a:pPr>
            <a:r>
              <a:rPr lang="en-US" sz="2099">
                <a:solidFill>
                  <a:srgbClr val="000000"/>
                </a:solidFill>
                <a:latin typeface="Garet"/>
                <a:ea typeface="Garet"/>
                <a:cs typeface="Garet"/>
                <a:sym typeface="Garet"/>
              </a:rPr>
              <a:t>The AI modeling phase definitively concludes that daily weather conditions have no statistically significant predictive power over daily sales for this dataset. The primary drivers of sales are strong, consistent time-based patterns, such as weekly business cycles and seasonal trends throughout the year.</a:t>
            </a:r>
          </a:p>
          <a:p>
            <a:pPr algn="l">
              <a:lnSpc>
                <a:spcPts val="2939"/>
              </a:lnSpc>
              <a:spcBef>
                <a:spcPct val="0"/>
              </a:spcBef>
            </a:pPr>
          </a:p>
          <a:p>
            <a:pPr algn="l">
              <a:lnSpc>
                <a:spcPts val="2939"/>
              </a:lnSpc>
              <a:spcBef>
                <a:spcPct val="0"/>
              </a:spcBef>
            </a:pPr>
            <a:r>
              <a:rPr lang="en-US" sz="2099">
                <a:solidFill>
                  <a:srgbClr val="000000"/>
                </a:solidFill>
                <a:latin typeface="Garet"/>
                <a:ea typeface="Garet"/>
                <a:cs typeface="Garet"/>
                <a:sym typeface="Garet"/>
              </a:rPr>
              <a:t>This is further supported by the low variance in the daily sales data itself, which suggests a stable baseline demand that is not easily influenced by external factors like weather. Therefore, any business strategy aiming to forecast sales should focus on temporal patterns rather than daily weather forecasts.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1028700" y="2739036"/>
            <a:ext cx="7203393" cy="662237"/>
          </a:xfrm>
          <a:prstGeom prst="rect">
            <a:avLst/>
          </a:prstGeom>
        </p:spPr>
        <p:txBody>
          <a:bodyPr anchor="t" rtlCol="false" tIns="0" lIns="0" bIns="0" rIns="0">
            <a:spAutoFit/>
          </a:bodyPr>
          <a:lstStyle/>
          <a:p>
            <a:pPr algn="l">
              <a:lnSpc>
                <a:spcPts val="4530"/>
              </a:lnSpc>
            </a:pPr>
            <a:r>
              <a:rPr lang="en-US" sz="5808" spc="-458">
                <a:solidFill>
                  <a:srgbClr val="000000"/>
                </a:solidFill>
                <a:latin typeface="Archivo Black"/>
                <a:ea typeface="Archivo Black"/>
                <a:cs typeface="Archivo Black"/>
                <a:sym typeface="Archivo Black"/>
              </a:rPr>
              <a:t>Thank you</a:t>
            </a:r>
          </a:p>
        </p:txBody>
      </p:sp>
      <p:sp>
        <p:nvSpPr>
          <p:cNvPr name="AutoShape 4" id="4"/>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5" id="5"/>
          <p:cNvSpPr/>
          <p:nvPr/>
        </p:nvSpPr>
        <p:spPr>
          <a:xfrm rot="0">
            <a:off x="-585133" y="9334500"/>
            <a:ext cx="18873133" cy="0"/>
          </a:xfrm>
          <a:prstGeom prst="line">
            <a:avLst/>
          </a:prstGeom>
          <a:ln cap="rnd" w="9525">
            <a:solidFill>
              <a:srgbClr val="000000"/>
            </a:solidFill>
            <a:prstDash val="solid"/>
            <a:headEnd type="none" len="sm" w="sm"/>
            <a:tailEnd type="none" len="sm" w="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DAGy9dZd1XI</dc:identifier>
  <dcterms:modified xsi:type="dcterms:W3CDTF">2011-08-01T06:04:30Z</dcterms:modified>
  <cp:revision>1</cp:revision>
  <dc:title>InternCE_Abdurrahman Rafif</dc:title>
</cp:coreProperties>
</file>